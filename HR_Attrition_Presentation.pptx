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0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92024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spc="1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HR ATTRITION ANALYSIS</a:t>
            </a:r>
            <a:endParaRPr lang="en-US" sz="4600" dirty="0"/>
          </a:p>
        </p:txBody>
      </p:sp>
      <p:sp>
        <p:nvSpPr>
          <p:cNvPr id="3" name="Text 1"/>
          <p:cNvSpPr/>
          <p:nvPr/>
        </p:nvSpPr>
        <p:spPr>
          <a:xfrm>
            <a:off x="777240" y="29260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a 34% attrition crisis into a $561K retention opportunity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777240" y="3749040"/>
            <a:ext cx="4114800" cy="0"/>
          </a:xfrm>
          <a:prstGeom prst="line">
            <a:avLst/>
          </a:prstGeom>
          <a:noFill/>
          <a:ln w="25400">
            <a:solidFill>
              <a:srgbClr val="2B6CB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397764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Business Analytics Case Study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 •  DuckDB SQL  •  Power BI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77240" y="60350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HRDataset v13  |  299 employees  |  Raw data to decision tool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IT STARTS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0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analysis begins with a business question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1064240" cy="1280160"/>
          </a:xfrm>
          <a:prstGeom prst="roundRect">
            <a:avLst>
              <a:gd name="adj" fmla="val 4286"/>
            </a:avLst>
          </a:prstGeom>
          <a:solidFill>
            <a:srgbClr val="EBF4FF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69164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700" i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questions this project set out to answer: How serious is attrition? Why are people leaving? What is it costing? And what is the return on fixing it?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48640" y="3154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answers that question in four steps: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3703320"/>
            <a:ext cx="2560320" cy="2286000"/>
          </a:xfrm>
          <a:prstGeom prst="roundRect">
            <a:avLst>
              <a:gd name="adj" fmla="val 2400"/>
            </a:avLst>
          </a:prstGeom>
          <a:solidFill>
            <a:srgbClr val="F7F8FA"/>
          </a:solidFill>
          <a:ln w="19050">
            <a:solidFill>
              <a:srgbClr val="2B6CB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600200" y="3931920"/>
            <a:ext cx="457200" cy="457200"/>
          </a:xfrm>
          <a:prstGeom prst="ellipse">
            <a:avLst/>
          </a:prstGeom>
          <a:solidFill>
            <a:srgbClr val="2B6CB0"/>
          </a:solidFill>
          <a:ln/>
        </p:spPr>
      </p:sp>
      <p:sp>
        <p:nvSpPr>
          <p:cNvPr id="9" name="Text 7"/>
          <p:cNvSpPr/>
          <p:nvPr/>
        </p:nvSpPr>
        <p:spPr>
          <a:xfrm>
            <a:off x="1600200" y="3931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85800" y="45262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31520" y="498348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severe is attrition, and who is leaving?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3337560" y="3703320"/>
            <a:ext cx="2560320" cy="2286000"/>
          </a:xfrm>
          <a:prstGeom prst="roundRect">
            <a:avLst>
              <a:gd name="adj" fmla="val 2400"/>
            </a:avLst>
          </a:prstGeom>
          <a:solidFill>
            <a:srgbClr val="F7F8FA"/>
          </a:solidFill>
          <a:ln w="19050">
            <a:solidFill>
              <a:srgbClr val="2C9C8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89120" y="3931920"/>
            <a:ext cx="457200" cy="457200"/>
          </a:xfrm>
          <a:prstGeom prst="ellipse">
            <a:avLst/>
          </a:prstGeom>
          <a:solidFill>
            <a:srgbClr val="2C9C8F"/>
          </a:solidFill>
          <a:ln/>
        </p:spPr>
      </p:sp>
      <p:sp>
        <p:nvSpPr>
          <p:cNvPr id="14" name="Text 12"/>
          <p:cNvSpPr/>
          <p:nvPr/>
        </p:nvSpPr>
        <p:spPr>
          <a:xfrm>
            <a:off x="4389120" y="3931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474720" y="45262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C9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3520440" y="498348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are they leaving — and was it preventable?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126480" y="3703320"/>
            <a:ext cx="2560320" cy="2286000"/>
          </a:xfrm>
          <a:prstGeom prst="roundRect">
            <a:avLst>
              <a:gd name="adj" fmla="val 2400"/>
            </a:avLst>
          </a:prstGeom>
          <a:solidFill>
            <a:srgbClr val="F7F8FA"/>
          </a:solidFill>
          <a:ln w="19050">
            <a:solidFill>
              <a:srgbClr val="D9770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78040" y="3931920"/>
            <a:ext cx="457200" cy="457200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19" name="Text 17"/>
          <p:cNvSpPr/>
          <p:nvPr/>
        </p:nvSpPr>
        <p:spPr>
          <a:xfrm>
            <a:off x="7178040" y="3931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263640" y="45262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Quantify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309360" y="498348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it costing, and who is at risk next?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8915400" y="3703320"/>
            <a:ext cx="2560320" cy="2286000"/>
          </a:xfrm>
          <a:prstGeom prst="roundRect">
            <a:avLst>
              <a:gd name="adj" fmla="val 2400"/>
            </a:avLst>
          </a:prstGeom>
          <a:solidFill>
            <a:srgbClr val="F7F8FA"/>
          </a:solidFill>
          <a:ln w="19050">
            <a:solidFill>
              <a:srgbClr val="2D7A3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966960" y="3931920"/>
            <a:ext cx="457200" cy="457200"/>
          </a:xfrm>
          <a:prstGeom prst="ellipse">
            <a:avLst/>
          </a:prstGeom>
          <a:solidFill>
            <a:srgbClr val="2D7A3A"/>
          </a:solidFill>
          <a:ln/>
        </p:spPr>
      </p:sp>
      <p:sp>
        <p:nvSpPr>
          <p:cNvPr id="24" name="Text 22"/>
          <p:cNvSpPr/>
          <p:nvPr/>
        </p:nvSpPr>
        <p:spPr>
          <a:xfrm>
            <a:off x="9966960" y="3931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9052560" y="45262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D7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9098280" y="498348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return on fixing it?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— DIAGNOSE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0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 is real, and worse than it looks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170432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than 1 in 3 employees left — over double the healthy benchmark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178308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34.45%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685800" y="249631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attrition rate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310896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85%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685800" y="382219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exits are voluntary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443484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 yrs</a:t>
            </a:r>
            <a:endParaRPr lang="en-US" sz="3800" dirty="0"/>
          </a:p>
        </p:txBody>
      </p:sp>
      <p:sp>
        <p:nvSpPr>
          <p:cNvPr id="10" name="Text 8"/>
          <p:cNvSpPr/>
          <p:nvPr/>
        </p:nvSpPr>
        <p:spPr>
          <a:xfrm>
            <a:off x="685800" y="514807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tenure at exit</a:t>
            </a:r>
            <a:endParaRPr lang="en-US" sz="1300" dirty="0"/>
          </a:p>
        </p:txBody>
      </p:sp>
      <p:pic>
        <p:nvPicPr>
          <p:cNvPr id="11" name="Image 0" descr="crops/p1_ten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45076" y="1737360"/>
            <a:ext cx="5643369" cy="3108960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5029200" y="5029200"/>
            <a:ext cx="6675120" cy="1097280"/>
          </a:xfrm>
          <a:prstGeom prst="roundRect">
            <a:avLst>
              <a:gd name="adj" fmla="val 4167"/>
            </a:avLst>
          </a:prstGeom>
          <a:solidFill>
            <a:srgbClr val="EBF4FF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257800" y="5120640"/>
            <a:ext cx="6263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danger zone is mid-tenure. </a:t>
            </a:r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40.78% of all exits fall in the 2-5 year band — people leaving exactly when they have become experienced and valuable.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— DIAGNOSE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0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is leaving — and a surprise in the data</a:t>
            </a:r>
            <a:endParaRPr lang="en-US" sz="2600" dirty="0"/>
          </a:p>
        </p:txBody>
      </p:sp>
      <p:pic>
        <p:nvPicPr>
          <p:cNvPr id="4" name="Image 0" descr="crops/p1_dep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12051" y="1371600"/>
            <a:ext cx="3759578" cy="3840480"/>
          </a:xfrm>
          <a:prstGeom prst="rect">
            <a:avLst/>
          </a:prstGeom>
        </p:spPr>
      </p:pic>
      <p:pic>
        <p:nvPicPr>
          <p:cNvPr id="5" name="Image 1" descr="crops/p1_a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0427" y="1554480"/>
            <a:ext cx="4504267" cy="219456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6400800" y="4069080"/>
            <a:ext cx="5303520" cy="2011680"/>
          </a:xfrm>
          <a:prstGeom prst="roundRect">
            <a:avLst>
              <a:gd name="adj" fmla="val 2273"/>
            </a:avLst>
          </a:prstGeom>
          <a:solidFill>
            <a:srgbClr val="F7F8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6629400" y="4206240"/>
            <a:ext cx="48463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drives the loss 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absolute numbers — but the rate tells a second story.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45+ group has the highest attrition (43.75%) 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 retirement and late-career signal that only surfaced after a data-quality fix corrected one-third of the age records.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C9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— EXPLAIN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0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Most of the loss was preventable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170432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reasons people gave point straight at fixable problems</a:t>
            </a:r>
            <a:endParaRPr lang="en-US" sz="1300" dirty="0"/>
          </a:p>
        </p:txBody>
      </p:sp>
      <p:pic>
        <p:nvPicPr>
          <p:cNvPr id="5" name="Image 0" descr="crops/p2_reason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52116" y="1600200"/>
            <a:ext cx="3513687" cy="4206240"/>
          </a:xfrm>
          <a:prstGeom prst="rect">
            <a:avLst/>
          </a:prstGeom>
        </p:spPr>
      </p:pic>
      <p:pic>
        <p:nvPicPr>
          <p:cNvPr id="6" name="Image 1" descr="crops/p2_treema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1539" y="1645920"/>
            <a:ext cx="3293402" cy="246888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852160" y="4297680"/>
            <a:ext cx="5852160" cy="1691640"/>
          </a:xfrm>
          <a:prstGeom prst="roundRect">
            <a:avLst>
              <a:gd name="adj" fmla="val 2703"/>
            </a:avLst>
          </a:prstGeom>
          <a:solidFill>
            <a:srgbClr val="EBF4FF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6080760" y="4407408"/>
            <a:ext cx="53949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41% of voluntary Production exits were avoidable. 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Unhappy (14), more money (11), and hours (6) — 31 of 75 exits — were driven by factors squarely within management control.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C9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— EXPLAIN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0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is the wrong people leaving — and some managers stand out</a:t>
            </a:r>
            <a:endParaRPr lang="en-US" sz="2600" dirty="0"/>
          </a:p>
        </p:txBody>
      </p:sp>
      <p:pic>
        <p:nvPicPr>
          <p:cNvPr id="4" name="Image 0" descr="crops/p2_per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1046" y="1463040"/>
            <a:ext cx="4318709" cy="23774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4023360"/>
            <a:ext cx="5303520" cy="2011680"/>
          </a:xfrm>
          <a:prstGeom prst="roundRect">
            <a:avLst>
              <a:gd name="adj" fmla="val 2273"/>
            </a:avLst>
          </a:prstGeom>
          <a:solidFill>
            <a:srgbClr val="F7F8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77240" y="4160520"/>
            <a:ext cx="48463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Underperformers leave 3× more often 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(9.71% vs 3.57%), and high performers are nearly 2× likelier to stay. The people walking out are disproportionately those the company would most want to keep developing.</a:t>
            </a:r>
            <a:endParaRPr lang="en-US" sz="1250" dirty="0"/>
          </a:p>
        </p:txBody>
      </p:sp>
      <p:pic>
        <p:nvPicPr>
          <p:cNvPr id="7" name="Image 1" descr="crops/p2_manager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55843" y="1463040"/>
            <a:ext cx="4827675" cy="36576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035040" y="5303520"/>
            <a:ext cx="5669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b="1" i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managers lose staff at double the company rate — </a:t>
            </a:r>
            <a:pPr indent="0" marL="0">
              <a:lnSpc>
                <a:spcPct val="110000"/>
              </a:lnSpc>
              <a:buNone/>
            </a:pPr>
            <a:r>
              <a:rPr lang="en-US" sz="12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Webster Butler (68%) and Amy Dunn (62%), all voluntary.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— QUANTIFY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0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cost is huge — and almost invisible</a:t>
            </a:r>
            <a:endParaRPr lang="en-US" sz="2600" dirty="0"/>
          </a:p>
        </p:txBody>
      </p:sp>
      <p:pic>
        <p:nvPicPr>
          <p:cNvPr id="4" name="Image 0" descr="crops/custom_hiddenco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4103" y="1463040"/>
            <a:ext cx="6618514" cy="3657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863840" y="1920240"/>
            <a:ext cx="3840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$762,620</a:t>
            </a:r>
            <a:endParaRPr lang="en-US" sz="34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annual attrition cost</a:t>
            </a:r>
            <a:endParaRPr lang="en-US" sz="3400" dirty="0"/>
          </a:p>
        </p:txBody>
      </p:sp>
      <p:sp>
        <p:nvSpPr>
          <p:cNvPr id="6" name="Shape 3"/>
          <p:cNvSpPr/>
          <p:nvPr/>
        </p:nvSpPr>
        <p:spPr>
          <a:xfrm>
            <a:off x="7772400" y="3291840"/>
            <a:ext cx="3931920" cy="2194560"/>
          </a:xfrm>
          <a:prstGeom prst="roundRect">
            <a:avLst>
              <a:gd name="adj" fmla="val 2083"/>
            </a:avLst>
          </a:prstGeom>
          <a:solidFill>
            <a:srgbClr val="F7F8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001000" y="3429000"/>
            <a:ext cx="347472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6.5% is visible recruiting spend.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other 93.5% is productivity lost while roles sit empty — a cost no one budgets for, but everyone pays.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— QUANTIFY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0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And underpaying made it worse</a:t>
            </a:r>
            <a:endParaRPr lang="en-US" sz="2600" dirty="0"/>
          </a:p>
        </p:txBody>
      </p:sp>
      <p:pic>
        <p:nvPicPr>
          <p:cNvPr id="4" name="Image 0" descr="crops/custom_payequit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417320"/>
            <a:ext cx="6583680" cy="38404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589520" y="2103120"/>
            <a:ext cx="4114800" cy="2743200"/>
          </a:xfrm>
          <a:prstGeom prst="roundRect">
            <a:avLst>
              <a:gd name="adj" fmla="val 1667"/>
            </a:avLst>
          </a:prstGeom>
          <a:solidFill>
            <a:srgbClr val="EBF4FF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818120" y="2286000"/>
            <a:ext cx="36576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pay-equity trap
</a:t>
            </a:r>
            <a:pPr indent="0" marL="0">
              <a:lnSpc>
                <a:spcPct val="115000"/>
              </a:lnSpc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Fixing two below-minimum technicians would have cost </a:t>
            </a:r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D7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$874/year each.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Replacing them after they quit cost </a:t>
            </a:r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~$14,800 each.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— QUANTIFY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0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 who is at risk next?</a:t>
            </a:r>
            <a:endParaRPr lang="en-US" sz="2600" dirty="0"/>
          </a:p>
        </p:txBody>
      </p:sp>
      <p:pic>
        <p:nvPicPr>
          <p:cNvPr id="4" name="Image 0" descr="crops/p3_scat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14138"/>
            <a:ext cx="7498080" cy="352116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29600" y="1737360"/>
            <a:ext cx="3474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</a:t>
            </a:r>
            <a:endParaRPr lang="en-US" sz="40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Risk employees</a:t>
            </a:r>
            <a:endParaRPr lang="en-US" sz="4000" dirty="0"/>
          </a:p>
        </p:txBody>
      </p:sp>
      <p:sp>
        <p:nvSpPr>
          <p:cNvPr id="6" name="Shape 3"/>
          <p:cNvSpPr/>
          <p:nvPr/>
        </p:nvSpPr>
        <p:spPr>
          <a:xfrm>
            <a:off x="8138160" y="3108960"/>
            <a:ext cx="3566160" cy="2286000"/>
          </a:xfrm>
          <a:prstGeom prst="roundRect">
            <a:avLst>
              <a:gd name="adj" fmla="val 2000"/>
            </a:avLst>
          </a:prstGeom>
          <a:solidFill>
            <a:srgbClr val="F7F8FA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366760" y="3246120"/>
            <a:ext cx="31089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active employee was scored on flight risk and replacement cost. </a:t>
            </a:r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 sit in the top-right: likely to leave AND expensive to lose — $561,565 in exposure.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D7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 — DECIDE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0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Retention pays for itself</a:t>
            </a:r>
            <a:endParaRPr lang="en-US" sz="2600" dirty="0"/>
          </a:p>
        </p:txBody>
      </p:sp>
      <p:pic>
        <p:nvPicPr>
          <p:cNvPr id="4" name="Image 0" descr="crops/p4_breakev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72909" y="1463040"/>
            <a:ext cx="4525062" cy="40233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1554480"/>
            <a:ext cx="5669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7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scenario — deliberately conservative inputs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640080" y="1965960"/>
            <a:ext cx="5669280" cy="777240"/>
          </a:xfrm>
          <a:prstGeom prst="roundRect">
            <a:avLst>
              <a:gd name="adj" fmla="val 5882"/>
            </a:avLst>
          </a:prstGeom>
          <a:solidFill>
            <a:srgbClr val="F7F8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22960" y="196596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$70,500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3063240" y="196596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Programme cost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2880360"/>
            <a:ext cx="5669280" cy="777240"/>
          </a:xfrm>
          <a:prstGeom prst="roundRect">
            <a:avLst>
              <a:gd name="adj" fmla="val 5882"/>
            </a:avLst>
          </a:prstGeom>
          <a:solidFill>
            <a:srgbClr val="F7F8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22960" y="288036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7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$112,313</a:t>
            </a:r>
            <a:endParaRPr lang="en-US" sz="2400" dirty="0"/>
          </a:p>
        </p:txBody>
      </p:sp>
      <p:sp>
        <p:nvSpPr>
          <p:cNvPr id="11" name="Text 8"/>
          <p:cNvSpPr/>
          <p:nvPr/>
        </p:nvSpPr>
        <p:spPr>
          <a:xfrm>
            <a:off x="3063240" y="288036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Projected savings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640080" y="3794760"/>
            <a:ext cx="5669280" cy="777240"/>
          </a:xfrm>
          <a:prstGeom prst="roundRect">
            <a:avLst>
              <a:gd name="adj" fmla="val 5882"/>
            </a:avLst>
          </a:prstGeom>
          <a:solidFill>
            <a:srgbClr val="F7F8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22960" y="379476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59%</a:t>
            </a:r>
            <a:endParaRPr lang="en-US" sz="2400" dirty="0"/>
          </a:p>
        </p:txBody>
      </p:sp>
      <p:sp>
        <p:nvSpPr>
          <p:cNvPr id="14" name="Text 11"/>
          <p:cNvSpPr/>
          <p:nvPr/>
        </p:nvSpPr>
        <p:spPr>
          <a:xfrm>
            <a:off x="3063240" y="379476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ROI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640080" y="4709160"/>
            <a:ext cx="5669280" cy="777240"/>
          </a:xfrm>
          <a:prstGeom prst="roundRect">
            <a:avLst>
              <a:gd name="adj" fmla="val 5882"/>
            </a:avLst>
          </a:prstGeom>
          <a:solidFill>
            <a:srgbClr val="F7F8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22960" y="470916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C9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2400" dirty="0"/>
          </a:p>
        </p:txBody>
      </p:sp>
      <p:sp>
        <p:nvSpPr>
          <p:cNvPr id="17" name="Text 14"/>
          <p:cNvSpPr/>
          <p:nvPr/>
        </p:nvSpPr>
        <p:spPr>
          <a:xfrm>
            <a:off x="3063240" y="470916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 retained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640080" y="5669280"/>
            <a:ext cx="5669280" cy="868680"/>
          </a:xfrm>
          <a:prstGeom prst="roundRect">
            <a:avLst>
              <a:gd name="adj" fmla="val 5263"/>
            </a:avLst>
          </a:prstGeom>
          <a:solidFill>
            <a:srgbClr val="EBF4FF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22960" y="5742432"/>
            <a:ext cx="5303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$1,500/employee, 20% reduction.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$1,500 is ~5% of a technician's salary; 20% is the cautious end of the 15-25% industry range. The dashboard's $1,000/25% default reaches 199% ROI — this is the version that survives a skeptical CFO.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ACTION PLAN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0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recommendations, ranked by cost-to-impact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594360" cy="594360"/>
          </a:xfrm>
          <a:prstGeom prst="ellipse">
            <a:avLst/>
          </a:prstGeom>
          <a:solidFill>
            <a:srgbClr val="2D7A3A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5544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463040" y="150876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below-market pay immediately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1463040" y="1892808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 3 active below-minimum technicians to band. ~$2,600/year. Prevents the 17× replacement penalty — lowest cost, fastest payback.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2697480"/>
            <a:ext cx="594360" cy="594360"/>
          </a:xfrm>
          <a:prstGeom prst="ellipse">
            <a:avLst/>
          </a:prstGeom>
          <a:solidFill>
            <a:srgbClr val="2B6CB0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6974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463040" y="265176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a targeted retention programme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1463040" y="3035808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on the 47 Critical Risk employees. At a conservative $1,500 each for a 20% reduction, the model returns 59% ROI — $112K saved on $70K, retaining 9 high-value staff.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" y="3840480"/>
            <a:ext cx="594360" cy="594360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8404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463040" y="379476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progression paths at 2-5 years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1463040" y="4178808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tenure band drives 41% of exits, mostly to 'another position'. Career pathways address the root cause of voluntary loss.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4983480"/>
            <a:ext cx="594360" cy="59436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49834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463040" y="493776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Coach high-attrition managers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1463040" y="5321808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Webster Butler (68%) and Amy Dunn (62%) lose staff at double the company rate, all voluntary. Investigate management practice.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20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BEHIND THE ANALYSIS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 was built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 pipeline — from four raw CSVs to an interactive decision tool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194560"/>
            <a:ext cx="2560320" cy="3200400"/>
          </a:xfrm>
          <a:prstGeom prst="roundRect">
            <a:avLst>
              <a:gd name="adj" fmla="val 2143"/>
            </a:avLst>
          </a:prstGeom>
          <a:solidFill>
            <a:srgbClr val="242C3D"/>
          </a:solidFill>
          <a:ln w="19050">
            <a:solidFill>
              <a:srgbClr val="2B6CB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691640" y="2468880"/>
            <a:ext cx="457200" cy="457200"/>
          </a:xfrm>
          <a:prstGeom prst="ellipse">
            <a:avLst/>
          </a:prstGeom>
          <a:solidFill>
            <a:srgbClr val="2B6CB0"/>
          </a:solidFill>
          <a:ln/>
        </p:spPr>
      </p:sp>
      <p:sp>
        <p:nvSpPr>
          <p:cNvPr id="7" name="Text 5"/>
          <p:cNvSpPr/>
          <p:nvPr/>
        </p:nvSpPr>
        <p:spPr>
          <a:xfrm>
            <a:off x="1691640" y="2468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77240" y="310896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Engineering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822960" y="3749040"/>
            <a:ext cx="21945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B8C4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linked CSVs cleaned in Python/pandas. Caught a DOB century-bug that had silently corrupted one-third of the age data — a QA catch that reversed a key finding.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29000" y="2194560"/>
            <a:ext cx="2560320" cy="3200400"/>
          </a:xfrm>
          <a:prstGeom prst="roundRect">
            <a:avLst>
              <a:gd name="adj" fmla="val 2143"/>
            </a:avLst>
          </a:prstGeom>
          <a:solidFill>
            <a:srgbClr val="242C3D"/>
          </a:solidFill>
          <a:ln w="19050">
            <a:solidFill>
              <a:srgbClr val="2C9C8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80560" y="2468880"/>
            <a:ext cx="457200" cy="457200"/>
          </a:xfrm>
          <a:prstGeom prst="ellipse">
            <a:avLst/>
          </a:prstGeom>
          <a:solidFill>
            <a:srgbClr val="2C9C8F"/>
          </a:solidFill>
          <a:ln/>
        </p:spPr>
      </p:sp>
      <p:sp>
        <p:nvSpPr>
          <p:cNvPr id="12" name="Text 10"/>
          <p:cNvSpPr/>
          <p:nvPr/>
        </p:nvSpPr>
        <p:spPr>
          <a:xfrm>
            <a:off x="4480560" y="2468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566160" y="310896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Analysis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3611880" y="3749040"/>
            <a:ext cx="21945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B8C4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DuckDB for attrition rates, a cost engine built on real recruiting spend, and a weighted flight-risk score across 196 active employees.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217920" y="2194560"/>
            <a:ext cx="2560320" cy="3200400"/>
          </a:xfrm>
          <a:prstGeom prst="roundRect">
            <a:avLst>
              <a:gd name="adj" fmla="val 2143"/>
            </a:avLst>
          </a:prstGeom>
          <a:solidFill>
            <a:srgbClr val="242C3D"/>
          </a:solidFill>
          <a:ln w="19050">
            <a:solidFill>
              <a:srgbClr val="D9770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269480" y="2468880"/>
            <a:ext cx="457200" cy="457200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17" name="Text 15"/>
          <p:cNvSpPr/>
          <p:nvPr/>
        </p:nvSpPr>
        <p:spPr>
          <a:xfrm>
            <a:off x="7269480" y="2468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355080" y="310896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Modelling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6400800" y="3749040"/>
            <a:ext cx="21945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B8C4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Replacement cost from actual data — recruiting spend plus 45-day vacancy loss — not generic industry multipliers.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9006840" y="2194560"/>
            <a:ext cx="2560320" cy="3200400"/>
          </a:xfrm>
          <a:prstGeom prst="roundRect">
            <a:avLst>
              <a:gd name="adj" fmla="val 2143"/>
            </a:avLst>
          </a:prstGeom>
          <a:solidFill>
            <a:srgbClr val="242C3D"/>
          </a:solidFill>
          <a:ln w="19050">
            <a:solidFill>
              <a:srgbClr val="2D7A3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058400" y="2468880"/>
            <a:ext cx="457200" cy="457200"/>
          </a:xfrm>
          <a:prstGeom prst="ellipse">
            <a:avLst/>
          </a:prstGeom>
          <a:solidFill>
            <a:srgbClr val="2D7A3A"/>
          </a:solidFill>
          <a:ln/>
        </p:spPr>
      </p:sp>
      <p:sp>
        <p:nvSpPr>
          <p:cNvPr id="22" name="Text 20"/>
          <p:cNvSpPr/>
          <p:nvPr/>
        </p:nvSpPr>
        <p:spPr>
          <a:xfrm>
            <a:off x="10058400" y="2468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9144000" y="310896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Dashboard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9189720" y="3749040"/>
            <a:ext cx="21945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B8C4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pages, a live What-If ROI calculator, custom theme, and every data limitation documented on the page.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48640" y="59436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Reproducible  •  Documented  •  Recruiter-ready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B6CB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03120"/>
            <a:ext cx="10698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diagnosis to decision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777240" y="310896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doesn't just report that attrition is high. It explains why, quantifies the cost, identifies who is at risk, and hands leadership a tool to model the return on fixing it.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777240" y="45720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the interactive dashboard to use the live ROI calculator.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77240" y="5166360"/>
            <a:ext cx="4114800" cy="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53492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Rupsa  |  Business Analytics Portfolio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HR Attrition Analysis</dc:title>
  <dc:subject>PptxGenJS Presentation</dc:subject>
  <dc:creator>Rupsa</dc:creator>
  <cp:lastModifiedBy>Rupsa</cp:lastModifiedBy>
  <cp:revision>1</cp:revision>
  <dcterms:created xsi:type="dcterms:W3CDTF">2026-06-18T11:29:58Z</dcterms:created>
  <dcterms:modified xsi:type="dcterms:W3CDTF">2026-06-18T11:29:58Z</dcterms:modified>
</cp:coreProperties>
</file>